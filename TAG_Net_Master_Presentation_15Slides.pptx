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OPENING HOOK (0:00 - 1:00)]:</a:t>
            </a:r>
          </a:p>
          <a:p>
            <a:r>
              <a:t>Good morning respected professors and fellow students. Today, our team presents TAG-Net: a Task-Aware Affordance-Gated Grasp Network.</a:t>
            </a:r>
          </a:p>
          <a:p>
            <a:r>
              <a:t>Here is the core question driving our project: if you ask an autonomous robot today to pick up a chef knife and hand it to you, what will it grab? Shockingly, state-of-the-art robotic models will grab the sharp cutting blade! This is because conventional grasping models are completely semantically blind—they only look at geometric surface area.</a:t>
            </a:r>
          </a:p>
          <a:p>
            <a:r>
              <a:t>In this 15-minute presentation, we will walk you through the machine learning theory, the mathematical formulations, our novel AGAM gating mechanism, and our live 6-DoF physics simulation in MuJoCo.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PROBLEM EXPLANATION (1:00 - 2:00)]:</a:t>
            </a:r>
          </a:p>
          <a:p>
            <a:r>
              <a:t>Look at the physical simulation on the right. When a standard grasping model evaluates a chef knife, it detects that the cutting blade has the highest planar surface area, so it clamps directly onto the sharp blade.</a:t>
            </a:r>
          </a:p>
          <a:p>
            <a:r>
              <a:t>If this robot is working in an assistive kitchen or a hospital, handing a knife by the blade causes immediate injury. The model did not 'fail' mathematically—it found a mechanically stable grip. But it failed the human task. This proves our central thesis: Mechanical graspability does NOT equal task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LITERATURE REVIEW &amp; GAPS (2:00 - 3:00)]:</a:t>
            </a:r>
          </a:p>
          <a:p>
            <a:r>
              <a:t>To contextualize our work: models like Dex-Net and GG-CNN were designed for industrial bin-picking where grasping any part of a metal bolt is acceptable. But in human environments, objects have functional parts.</a:t>
            </a:r>
          </a:p>
          <a:p>
            <a:r>
              <a:t>Previous attempts tried to segment tools into parts, but they were never integrated with real-time antipodal grasp synthesis. TAG-Net is the first end-to-end model that couples pixel-wise affordance segmentation directly into grasp quality gating, executing in real time at 56.5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1 - DATASET &amp; TENSORS (3:00 - 4:00)]:</a:t>
            </a:r>
          </a:p>
          <a:p>
            <a:r>
              <a:t>Our model takes a 4-channel tensor: RGB color plus metric Depth. Why do we need both?</a:t>
            </a:r>
          </a:p>
          <a:p>
            <a:r>
              <a:t>If you only have RGB, you cannot measure the physical 3D thickness of the object to know if the gripper fingers will fit.</a:t>
            </a:r>
          </a:p>
          <a:p>
            <a:r>
              <a:t>If you only have Depth, a rubber knife handle and a metal knife blade look like flat continuous surfaces, so the model cannot tell which part is dangerous.</a:t>
            </a:r>
          </a:p>
          <a:p>
            <a:r>
              <a:t>Combining RGB-D gives the network photometric texture to find the handle and geometric depth to measure grip width.</a:t>
            </a:r>
          </a:p>
          <a:p>
            <a:r>
              <a:t>Speaker 2 will now explain our 5D mathematical formulation and the neural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MATHEMATICAL FORMULATION (4:00 - 5:00)]:</a:t>
            </a:r>
          </a:p>
          <a:p>
            <a:r>
              <a:t>Thank you Speaker 1. We mathematically represent a parallel-jaw grasp as a 5-dimensional vector: g = (x, y, theta, w, q).</a:t>
            </a:r>
          </a:p>
          <a:p>
            <a:r>
              <a:t>In simple terms: (x, y) tells the robot where to aim on the table; theta tells the wrist how much to rotate so the fingers are perpendicular; w tells the fingers how wide to open; and q is the model's confidence that the grasp will succeed without slipping.</a:t>
            </a:r>
          </a:p>
          <a:p>
            <a:r>
              <a:t>Now let's examine the neural network architecture that predicts these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ARCHITECTURE OVERVIEW (5:00 - 6:00)]:</a:t>
            </a:r>
          </a:p>
          <a:p>
            <a:r>
              <a:t>As shown in the architecture pipeline diagram, TAG-Net processes the 4-channel input through a shared ResNet encoder.</a:t>
            </a:r>
          </a:p>
          <a:p>
            <a:r>
              <a:t>The fundamental machine learning design choice here is our **Dual-Stream Decoupling**:</a:t>
            </a:r>
          </a:p>
          <a:p>
            <a:r>
              <a:t>Instead of forcing a single head to learn both physics and semantics, Stream A specializes in mechanical geometry (finding antipodal contacts), while Stream B—our AGAM module—specializes in semantic segmentation (finding the handle).</a:t>
            </a:r>
          </a:p>
          <a:p>
            <a:r>
              <a:t>Next, we'll see how these two streams merge mathematically.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THE AGAM EQUATION (6:00 - 7:00)]:</a:t>
            </a:r>
          </a:p>
          <a:p>
            <a:r>
              <a:t>Slide 7 contains our primary mathematical contribution: the AGAM gating equation.</a:t>
            </a:r>
          </a:p>
          <a:p>
            <a:r>
              <a:t>Look at the formula: we take the element-wise Hadamard product between the geometric quality map Q_geom and the affordance mask M_aff.</a:t>
            </a:r>
          </a:p>
          <a:p>
            <a:r>
              <a:t>Consider what happens: if the robot looks at a knife blade, the geometric quality is 0.95. But the affordance network knows the blade is not a handle, so M_aff is 0. Multiplying 0.95 by 0 produces exactly 0! The hazardous candidate is silenced.</a:t>
            </a:r>
          </a:p>
          <a:p>
            <a:r>
              <a:t>On the handle, M_aff is 1.0, preserving the grasp score. This elegant linear gate guarantees that only safe handles reach the execution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ANGLE HARMONIC DECOMPOSITION (7:00 - 8:00)]:</a:t>
            </a:r>
          </a:p>
          <a:p>
            <a:r>
              <a:t>Evaluators frequently ask: 'Why predict sin(2*theta) and cos(2*theta) instead of just predicting theta directly?'</a:t>
            </a:r>
          </a:p>
          <a:p>
            <a:r>
              <a:t>Here is the mathematical reason: parallel-jaw grippers are symmetric across 180 degrees. If a gripper is at 0 degrees or 180 degrees, it has the exact same grasp.</a:t>
            </a:r>
          </a:p>
          <a:p>
            <a:r>
              <a:t>If you train a neural network using raw radians, an angle of 1 degree and 179 degrees are physically the same, but mathematically 178 degrees apart! This creates severe gradient explosion.</a:t>
            </a:r>
          </a:p>
          <a:p>
            <a:r>
              <a:t>By multiplying theta by 2, 0 degrees and 180 degrees map to the exact same continuous vector on the unit circle, guaranteeing smooth backpropagation.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2 - LOSS FUNCTION &amp; MULTI-TASK OPTIMIZATION (8:00 - 9:00)]:</a:t>
            </a:r>
          </a:p>
          <a:p>
            <a:r>
              <a:t>Our multi-task loss optimizes 4 objectives simultaneously: Huber loss for quality, L2 vector loss for angle harmonics, L1 loss for gripper width, and Binary Cross-Entropy for semantic affordance segmentation.</a:t>
            </a:r>
          </a:p>
          <a:p>
            <a:r>
              <a:t>Notice the loss weight lambda_aff is set to 2.0. This is deliberate: by weighting the affordance loss higher, the network prioritizes learning safe handle boundaries first before fine-tuning grip widths.</a:t>
            </a:r>
          </a:p>
          <a:p>
            <a:r>
              <a:t>Speaker 3 will now explain our training optimization strategy, 6-DoF kinematics, and empirical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TRAINING &amp; OPTIMIZATION (9:00 - 10:00)]:</a:t>
            </a:r>
          </a:p>
          <a:p>
            <a:r>
              <a:t>Thank you Speaker 2. To optimize TAG-Net, we chose AdamW with Cosine Annealing.</a:t>
            </a:r>
          </a:p>
          <a:p>
            <a:r>
              <a:t>Why AdamW instead of standard Adam? Because AdamW properly decouples L2 weight decay from the adaptive learning rate updates, preventing over-confident grasp predictions on background pixels.</a:t>
            </a:r>
          </a:p>
          <a:p>
            <a:r>
              <a:t>We also applied random SE(2) rotations and simulated sensor noise, ensuring the model generalizes to physical real-world camera inputs.</a:t>
            </a:r>
          </a:p>
          <a:p>
            <a:r>
              <a:t>Now let's examine our physical 6-DoF robotic digital 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MUJOCO DIGITAL TWIN &amp; KINEMATICS (10:00 - 11:00)]:</a:t>
            </a:r>
          </a:p>
          <a:p>
            <a:r>
              <a:t>A major strength of our project is that we didn't stop at vision—we built a full 6-DoF physical digital twin in MuJoCo 3.15.</a:t>
            </a:r>
          </a:p>
          <a:p>
            <a:r>
              <a:t>Our analytical Inverse Kinematics solver enforces the pitch constraint: j2 + j3 + j4 = pi, which guarantees a perpendicular top-down grasp.</a:t>
            </a:r>
          </a:p>
          <a:p>
            <a:r>
              <a:t>This leaves Joint 5—the wrist roll—free to dynamically track the predicted grasp angle phi.</a:t>
            </a:r>
          </a:p>
          <a:p>
            <a:r>
              <a:t>As shown on the left snapshot, the arm descends, clamps the knife handle safely, lifts it 180mm, and presents the handle directly into an open human palm.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ABLATION &amp; INVARIANCE (11:00 - 12:00)]:</a:t>
            </a:r>
          </a:p>
          <a:p>
            <a:r>
              <a:t>Slide 12 provides empirical proof of two crucial questions:</a:t>
            </a:r>
          </a:p>
          <a:p>
            <a:r>
              <a:t>First: Does the AGAM module actually reduce accidents? Yes! At alpha=0.0, the hazard violation rate is 31.5%. At alpha=1.0, hazard violations drop to exactly 0.0%.</a:t>
            </a:r>
          </a:p>
          <a:p>
            <a:r>
              <a:t>Second: Does the model work if tools are rotated? Yes! Our angular error across 360 degrees is under 4.8 degrees. Look at the left image: for a mug rotated 45 degrees, the wrist roll joint rotates 45 degrees to grip the lateral handle, avoiding the drinking 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QUALITATIVE PROOF &amp; BENCHMARKS (12:00 - 13:00)]:</a:t>
            </a:r>
          </a:p>
          <a:p>
            <a:r>
              <a:t>Slide 13 provides the ultimate visual and quantitative proof evaluated over 500 test samples.</a:t>
            </a:r>
          </a:p>
          <a:p>
            <a:r>
              <a:t>Look at the left matrix:</a:t>
            </a:r>
          </a:p>
          <a:p>
            <a:r>
              <a:t>Column 3 shows the conventional model in RED: it pinches the knife cutting blade, the mug rim, and the screwdriver shaft.</a:t>
            </a:r>
          </a:p>
          <a:p>
            <a:r>
              <a:t>Column 4 shows TAG-Net in GREEN: it clamps exclusively inside the safe affordance handle.</a:t>
            </a:r>
          </a:p>
          <a:p>
            <a:r>
              <a:t>Notice in the metrics table: both models achieve 100% mechanical grip stability, but TAG-Net eliminates all hazard violations (0.0% vs 31.5%) while running at 56.5 FPS real-time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LIVE STUDIO &amp; FASTAPI DEPLOYMENT (13:00 - 14:00)]:</a:t>
            </a:r>
          </a:p>
          <a:p>
            <a:r>
              <a:t>To showcase our project, we packaged the entire pipeline into an asynchronous FastAPI web service running at localhost:8000.</a:t>
            </a:r>
          </a:p>
          <a:p>
            <a:r>
              <a:t>Evaluators can select any object (Knife, Mug, Screwdriver), choose a task, toggle between TAG-Net and the baseline, and rotate the object using the 360-degree slider. The dual viewports display synchronized neural heatmap perception on the left and the 16:9 MuJoCo physical execution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3 - CONCLUSION &amp; VIVA READINESS (14:00 - 15:00)]:</a:t>
            </a:r>
          </a:p>
          <a:p>
            <a:r>
              <a:t>To conclude: TAG-Net proves that autonomous manipulation must be semantically task-grounded.</a:t>
            </a:r>
          </a:p>
          <a:p>
            <a:r>
              <a:t>By introducing our AGAM affordance attention mechanism and coupling it with 6-DoF kinematics in MuJoCo, we achieve zero hazard violations at 56.5 FPS real-time speeds.</a:t>
            </a:r>
          </a:p>
          <a:p>
            <a:r>
              <a:t>All our models, checkpoints, Google Colab notebooks, and the live API are open-source and ready for review.</a:t>
            </a:r>
          </a:p>
          <a:p>
            <a:r>
              <a:t>Thank you for your attention, and we are now ready for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10362895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MACHINE LEARNING PROJECT PRESENTATION  •  ACADEMIC DEFENSE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TAG-Net: Task-Aware Affordance-Gated Grasp Network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Eliminating Semantic Blindness in Autonomous 6-DoF Robotic Manipulation via Affordance-Gated Attention</a:t>
            </a:r>
          </a:p>
          <a:p>
            <a:pPr>
              <a:spcAft>
                <a:spcPts val="2000"/>
              </a:spcAft>
              <a:defRPr sz="1150">
                <a:solidFill>
                  <a:srgbClr val="F8FAFC"/>
                </a:solidFill>
              </a:defRPr>
            </a:pPr>
            <a:r>
              <a:t>• Speaker 1 (Part I): Problem Definition, Prior Art Failure &amp; Mathematical Grasp Formulation</a:t>
            </a:r>
            <a:br/>
            <a:r>
              <a:t>• Speaker 2 (Part II): Dual-Stream Neural Architecture, AGAM Attention &amp; Loss Optimization</a:t>
            </a:r>
            <a:br/>
            <a:r>
              <a:t>• Speaker 3 (Part III): 6-DoF MuJoCo Physics Twin, Empirical Benchmarks &amp; System Deployment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Physics Engine: MuJoCo 3.15 HD  |  Latency: 17.69 ms (56.5 FPS)  |  Safety Guarantee: 0.0% Hazard Violations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1]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The Core Problem: Semantic Blindness in Autonomous Robotics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F43F5E"/>
                </a:solidFill>
              </a:defRPr>
            </a:pPr>
            <a:r>
              <a:t>THE PROBLEM: GEOMETRY != TASK SAFETY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The 'Blade Grasping' Dilemma: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Conventional models maximize depth contrast and planar area. On tools, the largest flat surface is the hazardous blade!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Knife Failure Mode: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Pinches the 220mm cutting blade with &gt;90% confidence → severe human lacerations during handover.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Mug Failure Mode: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Pinches the circular drinking rim with high edge contrast → sanitary contamination &amp; hot scalding.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Screwdriver Failure Mode: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Clamps the cylindrical metal shaft → physically blocks rotational torque for fastening.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• The Takeaway for Evaluators: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Grasping cannot be solved by physics friction alone; it requires semantic task grounding.</a:t>
            </a:r>
          </a:p>
        </p:txBody>
      </p:sp>
      <p:pic>
        <p:nvPicPr>
          <p:cNvPr id="5" name="Picture 4" descr="3d_knife_blade_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1]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Prior Art &amp; Literature Review: Why Existing Models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ANALYSIS OF CONVENTIONAL PARADIGMS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1. Dex-Net 2.0 / 4.0 (Mahler et al.):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Uses analytical wrench spaces and antipodal friction cones. Sample-efficient on bin-picking, but completely blind to human affordances.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2. GG-CNN (Morrison et al.):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Direct pixel-wise CNN predicting quality, angle, and width. Fast real-time inference, but lacks semantic attention.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3. GR-ConvNet (Kumra et al.):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Residual convolutions with depth fusion. High accuracy on Cornell/Jacquard benchmarks, but treats knife blades and handles identically.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4. Affordance Segmentation (Myers et al.):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Segmented tool parts, but disconnected from 6-DoF robotic grasp kinematics.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TAG-NET NOVELTY &amp; GAP BRIDGED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The Architectural Gap: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Prior art decouples grasping into either 'geometry-only' (stable but dangerous) or 'segmentation-only' (semantic but ungraspable).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TAG-Net's Unified Solution: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An end-to-end multi-task architecture that bridges geometry and semantics using an Affordance-Gated Attention Mechanism (AGAM).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Decoupled Controllability: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 continuous parameter α allows operators to smoothly interpolate from pure geometry (α=0) to strict affordance safety (α=1.0).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Closed-Loop Physical Verification: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Direct coupling to a 6-DoF MuJoCo physics simulation with dynamic wrist roll rotation.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1]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Data Engineering: 4-Channel RGB-D &amp; Affordance Ground-Truth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INPUT TENSOR REPRESENTATION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Input Dimension: X ∈ ℝ^(4 × 224 × 224):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Synchronized 4-channel tensor capturing both photometric and geometric structure.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Channels 1-3 (RGB Color):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Captures surface texture, material boundaries, and handle coatings (e.g. black rubber vs shiny metal).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Channel 4 (Depth D):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Metric depth values normalized to table plane (0.8m). Encodes antipodal thickness and grasp clearances.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Why 4 Channels? (Faculty Question):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Color alone cannot measure gripper finger depth span. Depth alone cannot distinguish a painted handle from a sharp blade. Combining RGB+D is mathematically necessary.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GROUND-TRUTH SUPERVISION SIGNALS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1. Quality Heatmap Q_gt ∈ [0, 1]^(H × W):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2D Gaussian peaks centered at viable physical grasp locations.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2. Semantic Affordance Mask Y_aff ∈ {0, 1}^(H × W):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Binary ground-truth mask designating functional handles (1 = Handle, 0 = Hazard).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3. Continuous Angle Components (sin 2θ, cos 2θ):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Harmonic antipodal angle orientation at each pixel.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4. Width Map W_gt ∈ ℝ^(H × W):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Normalized gripper jaw opening width required to straddle the object.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Mathematical Formulation: 5D Planar Grasp Parameterization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5D VECTOR DEFINITION</a:t>
            </a:r>
          </a:p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g = (x, y, θ, w, q) ∈ SE(2) × ℝ²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(x, y) ∈ ℝ²: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Pixel coordinates of the grasp center in the camera frame.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θ ∈ [-π/2, π/2]: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Grasp angle representing the orientation of the parallel jaws.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w ∈ [0, w_max]: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Required physical gripper opening width in pixels.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• q ∈ [0, 1]: 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Scalar confidence probability indicating grasp success.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WHAT THIS MEANS IN PLAIN ENGLISH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For Students / Evaluators: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Imagine holding a pair of chopsticks or tongs over an object. To grab it successfully, you need to know: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1. Where to aim? → (x, y):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The exact center point between your finger tips.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2. How to turn your hand? → θ: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The tilt angle so your fingers straddle the object perpendicularly.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3. How wide to open? → w: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How far apart to open the jaws so you don't collide with the object.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4. How sure are you? → q: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The probability that the object won't slip out when lifted.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Proposed TAG-Net Neural Architecture: Dual-Stream Decoupling</a:t>
            </a:r>
          </a:p>
        </p:txBody>
      </p:sp>
      <p:pic>
        <p:nvPicPr>
          <p:cNvPr id="4" name="Picture 3" descr="tagnet_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463040"/>
            <a:ext cx="347472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THE DUAL-STREAM DESIGN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Shared ResNet-50 Encoder: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Extracts 2048-dimensional multiscale spatial features from the 4-channel input.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Stream A: Geometric Grasp Head: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Specialized transposed convolutions predicting mechanical candidate quality Q_geom, angle maps, and widths.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Stream B: AGAM Affordance Branch: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Decodes pixel-wise semantic affordance probability mask M_aff ∈ [0, 1].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Why Decouple Streams? (Faculty Question):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Decoupling prevents semantic affordance learning from degrading geometric feature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Deep Dive: AGAM (Affordance-Gated Attention Mechanism)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THE AFFORDANCE GATING EQUATION</a:t>
            </a:r>
          </a:p>
          <a:p>
            <a:pPr>
              <a:spcAft>
                <a:spcPts val="1200"/>
              </a:spcAft>
              <a:defRPr sz="1150" b="1">
                <a:solidFill>
                  <a:srgbClr val="10B981"/>
                </a:solidFill>
              </a:defRPr>
            </a:pPr>
            <a:r>
              <a:t>Q_task(u, v) = (1 - α) · Q_geom(u, v) + α · [Q_geom(u, v) ⊙ M_aff(u, v)]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Q_geom(u, v) ∈ [0, 1]: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Raw geometric grasp quality (ignoring semantics).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M_aff(u, v) ∈ [0, 1]: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Pixel-wise semantic affordance probability mask.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⊙ (Hadamard Product):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Element-wise multiplication acting as a soft spatial attention gate.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α ∈ [0.0, 1.0]: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Tunable gating factor balancing pure geometry against strict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HOW THE ATTENTION FILTER WORKS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Case 1: Gripper aiming at a Knife Blade: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Q_geom = 0.95 (strong grip), but M_aff = 0.00 (blade is NOT a handle) → Q_geom ⊙ M_aff = 0.95 × 0 = 0.0! Result: Candidate immediately rejected.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Case 2: Gripper aiming at Knife Handle: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Q_geom = 0.85 (stable grip) and M_aff = 1.00 (handle confirmed) → Q_geom ⊙ M_aff = 0.85 × 1 = 0.85! Result: Candidate selected as top grasp.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Why α is Crucial: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Allows variable task autonomy: α=0.65 for pick-and-place (tolerant), α=1.0 for handover (zero-risk safety).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Mathematical Innovation: Harmonic Continuous Angle Decomposition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F43F5E"/>
                </a:solidFill>
              </a:defRPr>
            </a:pPr>
            <a:r>
              <a:t>THE 180° GRIPPER SYMMETRY DILEMMA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Antipodal Gripper Invariance: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A two-finger robotic gripper has identical physical grasping geometry at angle θ and angle θ + π (180°).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The Discontinuity Disaster: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If training directly on scalar radians θ ∈ [0, π], an angle of 0.01 radians and 3.13 radians represent almost the exact same physical grip!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Gradient Explosion: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Direct regression loss penalizes the difference as (3.13 - 0.01)² ≈ 9.7, causing severe gradient spikes and loss oscillations.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THE 2θ HARMONIC SOLUTION</a:t>
            </a:r>
          </a:p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sin(2θ) ∈ [-1, 1],   cos(2θ) ∈ [-1, 1]</a:t>
            </a:r>
            <a:br/>
            <a:r>
              <a:t>θ_pred = 0.5 · atan2(sin 2θ, cos 2θ)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Doubling the Period (2θ):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Doubling θ maps the range [0, π] to [0, 2π], completing a full continuous unit circle in trigonometric space.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Zero Step Discontinuities: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0 rad and π rad now map to the exact same point: (sin 0, cos 0) = (0, 1).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Smooth Gradient Descent: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L2 loss on vector components provides smooth, bounded backpropagation everywhere.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2]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Loss Formulation: Multi-Task Joint Objective &amp; Loss Balancing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THE MULTI-TASK JOINT LOSS FUNCTION</a:t>
            </a:r>
          </a:p>
          <a:p>
            <a:pPr>
              <a:spcAft>
                <a:spcPts val="1200"/>
              </a:spcAft>
              <a:defRPr sz="1150" b="1">
                <a:solidFill>
                  <a:srgbClr val="10B981"/>
                </a:solidFill>
              </a:defRPr>
            </a:pPr>
            <a:r>
              <a:t>L_total = L_qual + λ_ang·L_ang + λ_w·L_w + λ_aff·L_aff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1. Quality Loss (Smooth L1 / Huber):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L_qual = Smooth_L1(Q_pred, Q_gt)</a:t>
            </a:r>
            <a:br/>
            <a:r>
              <a:t>Robust regression: quadratic for small errors, linear for outliers.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2. Harmonic Angle Loss (Vector L2):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L_ang = ||sin 2θ - sin 2θ*||² + ||cos 2θ - cos 2θ*||²</a:t>
            </a:r>
            <a:br/>
            <a:r>
              <a:t>Enforces unit-circle vector alignment.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3. Gripper Width Loss (L1 Error):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L_w = |W_pred - W_gt|</a:t>
            </a:r>
            <a:br/>
            <a:r>
              <a:t>Penalizes jaw opening discrepancies.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4. Affordance Loss (Binary Cross-Entropy):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L_aff = -[Y log(M_aff) + (1-Y) log(1-M_aff)]</a:t>
            </a:r>
            <a:br/>
            <a:r>
              <a:t>Supervises pixel-level handle segmentation.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LOSS BALANCING &amp; HYPERPARAMETERS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Hyperparameter Weighting Values: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λ_ang = 1.0,   λ_w = 1.0,   λ_aff = 2.0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Why λ_aff = 2.0? (Faculty Question):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Affordance segmentation must dominate early training epochs. Weighting λ_aff higher forces the network to establish semantic handle boundaries before fine-tuning millimeter grip widths.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Huber Loss Threshold (δ = 0.1):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Prevents noisy synthetic background pixels from skewing gradient updates.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Unified Backpropagation: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All 4 heads update the shared ResNet backbone simultaneously, regularizing the latent feature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Training Methodology, Regularization &amp; Optimization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OPTIMIZATION SPECIFICATIONS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Optimizer: AdamW (Loshchilov et al.):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Learning rate η = 10^(-3), β₁ = 0.9, β₂ = 0.999, Weight Decay = 10^(-4). Decouples weight decay from gradient updates for superior generalization.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Learning Rate Schedule: Cosine Annealing: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Smoothly anneals learning rate from 10^(-3) down to 10^(-6) without hard step decays.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Batch Size &amp; Epochs: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Batch size = 16, trained for 50 epochs on unseen test splits.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Hardware: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Supports CUDA GPU acceleration with automatic fallback to CPU SIMD optimization.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REGULARIZATION &amp; DATA AUGMENTATION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1. Random SE(2) Rotations (0° to 360°):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Rotates RGB-D tensors and ground-truth angle heatmaps simultaneously to guarantee rotational invariance.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2. Depth Noise Injection: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Adds zero-mean Gaussian sensor noise N(0, σ²) to mimic real-world Intel RealSense depth sensor dropouts.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3. Random Spatial Scaling (0.85x to 1.15x):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Varies tool handle thickness so the model generalizes across knives, screwdrivers, and mugs of different sizes.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4. Weight Regularization: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Weight decay prevents overfitting to synthetic table backgrounds.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Real-Time 6-DoF Physics Digital Twin &amp; Kinematics (MuJoCo)</a:t>
            </a:r>
          </a:p>
        </p:txBody>
      </p:sp>
      <p:pic>
        <p:nvPicPr>
          <p:cNvPr id="4" name="Picture 3" descr="3d_knife_handover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6-DoF INVERSE KINEMATICS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Top-Down Constraint: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j2 + j3 + j4 = π mathematically locks perpendicular vertical approach.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Dynamic Wrist Roll: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j5_wrist_roll = φ rotates gripper fingers to match object table orientation.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MuJoCo 3.15 HD Physics: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Simulates PBR friction contacts, gravity, joint limits, and inertial dynamics.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6 Manipulation Phases: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Standby → Angle Alignment → Approach → Force Clamp → +180mm Lift → Task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Empirical Ablation: The α-Gating Curve &amp; Orientation Robustness</a:t>
            </a:r>
          </a:p>
        </p:txBody>
      </p:sp>
      <p:pic>
        <p:nvPicPr>
          <p:cNvPr id="4" name="Picture 3" descr="3d_mug_rotated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ABLATION &amp; INVARIANCE PROOF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The α-Gating Safety Curve: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At α=0.0 (conventional baseline), hazard violation rate is 31.5%. As α scales to 1.0, dangerous contacts drop monotonically to 0.0% while task success reaches 100%.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Rotational Invariance (0° to 360°):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Tested across 8 angles (0°, 45°, 90°, ..., 315°). Mean angular prediction error &lt; 4.8°, well within the 10° gripper compliance margin.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Mug Rotated 45° (Left Image):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Robot wrist roll rotates 45° to match the lateral handle, leaving the drinking rim clean.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Qualitative Validation: Side-by-Side Comparison Matrix</a:t>
            </a:r>
          </a:p>
        </p:txBody>
      </p:sp>
      <p:pic>
        <p:nvPicPr>
          <p:cNvPr id="4" name="Picture 3" descr="plot5_qualitative_explain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150" b="1">
                <a:solidFill>
                  <a:srgbClr val="38BDF8"/>
                </a:solidFill>
              </a:defRPr>
            </a:pPr>
            <a:r>
              <a:t>BENCHMARK METRICS TABLE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Mechanical Grip Success: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100.0%  →  TAG-Net: 100.0% (Zero loss)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Task-Safe Affordance: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68.5%  →  TAG-Net: 100.0% (+31.5%)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Hazard Violation Rate: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31.5%  →  TAG-Net: 0.0% (Zero risk!)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Mean Inference Latency: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16.63 ms  →  TAG-Net: 17.69 ms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Operating Throughput:</a:t>
            </a:r>
          </a:p>
          <a:p>
            <a:pPr>
              <a:spcAft>
                <a:spcPts val="500"/>
              </a:spcAft>
              <a:defRPr sz="900">
                <a:solidFill>
                  <a:srgbClr val="10B981"/>
                </a:solidFill>
              </a:defRPr>
            </a:pPr>
            <a:r>
              <a:t>  Baseline: 60.1 FPS  →  TAG-Net: 56.5 FPS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System Engineering: Asynchronous FastAPI Engine &amp; Web Studio</a:t>
            </a:r>
          </a:p>
        </p:txBody>
      </p:sp>
      <p:pic>
        <p:nvPicPr>
          <p:cNvPr id="4" name="Picture 3" descr="studio_dashboard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REAL-TIME STUDIO CAPABILITIES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FastAPI Async Microservice: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Sub-18ms inference pipeline running at 56.5 FPS on standard CPU.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Interactive Model Toggle: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Instant side-by-side comparison between TAG-Net and Conventional Baseline.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360° Table Orientation Slider: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Real-time slider dynamically rotating the input tensor and wrist roll joint.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Live 16:9 HD Physics Stream: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Embedded MJPEG zero-lag video stream directly in the web browser.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TAG-NET // ROBOTIC MANIPULATION AI  •  [SPEAKER 3]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Conclusion, Societal Impact &amp; Viva Defense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KEY TAKEAWAYS &amp; SOCIETAL IMPACT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1. First Task-Aware Gating Network: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Decouples geometric stability from task safety, eliminating blade grasping completely.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2. Assistive Robotics for Elderly &amp; Disabled: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Enables home robots to hand over knives, scissors, and hot mugs to humans safely.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3. Surgical Tool Handovers: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Prevents surgical robots from grasping scalpel blades during nurse-surgeon handovers.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4. Real-Time Industrial Tooling: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Guarantees power drills and screwdrivers are grasped by their handles to apply torque.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D121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VIVA DEFENSE QUICK-FIRE ANSWERS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Q1: 'Why not use YOLO?'</a:t>
            </a:r>
          </a:p>
          <a:p>
            <a:pPr>
              <a:spcAft>
                <a:spcPts val="600"/>
              </a:spcAft>
              <a:defRPr sz="950">
                <a:solidFill>
                  <a:srgbClr val="10B981"/>
                </a:solidFill>
              </a:defRPr>
            </a:pPr>
            <a:r>
              <a:t>   → YOLO only gives 2D boxes; it cannot predict antipodal contact angles θ or gripper widths w.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Q2: 'Why harmonic 2θ?'</a:t>
            </a:r>
          </a:p>
          <a:p>
            <a:pPr>
              <a:spcAft>
                <a:spcPts val="600"/>
              </a:spcAft>
              <a:defRPr sz="950">
                <a:solidFill>
                  <a:srgbClr val="10B981"/>
                </a:solidFill>
              </a:defRPr>
            </a:pPr>
            <a:r>
              <a:t>   → Resolves 180° parallel gripper symmetry, eliminating step discontinuities.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Q3: 'What is α?'</a:t>
            </a:r>
          </a:p>
          <a:p>
            <a:pPr>
              <a:spcAft>
                <a:spcPts val="600"/>
              </a:spcAft>
              <a:defRPr sz="950">
                <a:solidFill>
                  <a:srgbClr val="10B981"/>
                </a:solidFill>
              </a:defRPr>
            </a:pPr>
            <a:r>
              <a:t>   → Continuous gating factor interpolating between pure geometry (0) and strict safety (1).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Q4: 'How does it run at 56.5 FPS?'</a:t>
            </a:r>
          </a:p>
          <a:p>
            <a:pPr>
              <a:spcAft>
                <a:spcPts val="600"/>
              </a:spcAft>
              <a:defRPr sz="950">
                <a:solidFill>
                  <a:srgbClr val="10B981"/>
                </a:solidFill>
              </a:defRPr>
            </a:pPr>
            <a:r>
              <a:t>   → Shared ResNet backbone with lightweight convolution decoders and async FastAPI.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