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snapToObjects="1">
      <p:cViewPr varScale="1">
        <p:scale>
          <a:sx n="64" d="100"/>
          <a:sy n="64" d="100"/>
        </p:scale>
        <p:origin x="712"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0439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professors and evaluators. Today, I am excited to present TAG-Net, an end-to-end multi-task deep neural network designed for autonomous robotics. This project bridges the gap between Computer Vision, Deep Learning, and Physical Robotic Control, addressing a critical blind spot in state-of-the-art robotic grasp synthesis.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fundamental motivation of our work. Modern grasp synthesis models are blind to task semantics. If a robot hands a human a knife, grasping the blade is physically dangerous. If it picks up a mug by the rim, it spills the liquid. SOTA models achieve 95% accuracy on paper, but fail in physical reality. TAG-Net introduces task affordance gating to solve this exact failure mode.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Instead of running a slow two-stage pipeline—like detecting a handle with YOLO and then cropping it—TAG-Net is an end-to-end single-pass architecture. By sharing the feature encoder, both streams inform each other. The Affordance-Gated Attention Module is mathematically differentiable, meaning the entire network trains jointly with zero latency penalty.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mathematical rigor behind our model. Note equation B: parallel-jaw grippers have 180-degree symmetry. By predicting harmonic components sine 2-theta and cosine 2-theta, we avoid angle discontinuity at the boundaries. Equation C is our core paper contribution: the Hadamard product soft-gates geometric quality against semantic affordance.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quantitative results. We tested both models under identical conditions on 200 unseen objects. Notice row 2: the baseline failed task constraints 32% of the time. TAG-Net achieved 100% Task Success Rate. And notice row 3 and 4: inference latency is only 1.86 milliseconds—delivering over 530 frames per second.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provides the visual smoking gun. On the top row, the baseline places candidate boxes around the circular mug rim. Its top grasp is on the rim—meaning it spills the drink. On the bottom row, TAG-Net's affordance mask isolates the handle. The AGAM module gates out the rim completely, forcing the gripper to execute cleanly on the handle.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didn't stop at computer vision; we closed the loop in robotics physics. Using MuJoCo, we mapped the 2D grasp to a 6-DoF articulated arm. By constraining the inverse kinematics with j2 + j3 + j4 = pi, the gripper descends strictly perpendicular to the table, clamping the handle across its diameter and lifting it smoothly.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demonstrate readiness for physical manufacturing, we integrated with Autodesk Fusion 360. We exported the 3D CAD assembly and a time-series motion table. This allows mechanical engineers to simulate joint stresses, clearances, and motor torques directly within standard CAD software.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TAG-Net proves that robotic grasping must be task-aware to be physically useful. We achieved 100% task safety with zero latency compromise. As next steps for our upcoming IEEE conference paper, we are integrating Segment Anything for open-vocabulary grasping. Thank you, and I look forward to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29487" y="1645920"/>
            <a:ext cx="10332720" cy="3657600"/>
          </a:xfrm>
          <a:prstGeom prst="rect">
            <a:avLst/>
          </a:prstGeom>
          <a:noFill/>
        </p:spPr>
        <p:txBody>
          <a:bodyPr wrap="square">
            <a:spAutoFit/>
          </a:bodyPr>
          <a:lstStyle/>
          <a:p>
            <a:pPr>
              <a:defRPr sz="1300" b="1">
                <a:solidFill>
                  <a:srgbClr val="10B981"/>
                </a:solidFill>
              </a:defRPr>
            </a:pPr>
            <a:r>
              <a:rPr dirty="0"/>
              <a:t>MACHINE LEARNING FOR ROBOTICS</a:t>
            </a:r>
          </a:p>
          <a:p>
            <a:pPr>
              <a:spcBef>
                <a:spcPts val="1400"/>
              </a:spcBef>
              <a:spcAft>
                <a:spcPts val="2000"/>
              </a:spcAft>
              <a:defRPr sz="3200" b="1">
                <a:solidFill>
                  <a:srgbClr val="F8FAFC"/>
                </a:solidFill>
              </a:defRPr>
            </a:pPr>
            <a:r>
              <a:rPr dirty="0"/>
              <a:t>TAG-Net: Task-Aware Affordance-Gated Network for Function-Specific Robotic Grasping</a:t>
            </a:r>
          </a:p>
          <a:p>
            <a:pPr>
              <a:defRPr sz="1400">
                <a:solidFill>
                  <a:srgbClr val="94A3B8"/>
                </a:solidFill>
              </a:defRPr>
            </a:pPr>
            <a:r>
              <a:rPr dirty="0"/>
              <a:t>Presenter: Hareharan B T  |  NVIDIA RTX 5070 Ti Acceleration  |  </a:t>
            </a:r>
            <a:r>
              <a:rPr dirty="0" err="1"/>
              <a:t>MuJoCo</a:t>
            </a:r>
            <a:r>
              <a:rPr dirty="0"/>
              <a:t> &amp; Fusion 360</a:t>
            </a:r>
          </a:p>
          <a:p>
            <a:pPr>
              <a:spcBef>
                <a:spcPts val="1000"/>
              </a:spcBef>
              <a:defRPr sz="1300">
                <a:solidFill>
                  <a:srgbClr val="06B6D4"/>
                </a:solidFill>
              </a:defRPr>
            </a:pPr>
            <a:r>
              <a:rPr dirty="0"/>
              <a:t>Open-Source Repository: https://github.com/haree-bt/TAG-Net-Model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06B6D4"/>
                </a:solidFill>
              </a:defRPr>
            </a:pPr>
            <a:r>
              <a:t>1. RESEARCH MOTIVATION</a:t>
            </a:r>
          </a:p>
          <a:p>
            <a:pPr>
              <a:defRPr sz="2200" b="1">
                <a:solidFill>
                  <a:srgbClr val="F8FAFC"/>
                </a:solidFill>
              </a:defRPr>
            </a:pPr>
            <a:r>
              <a:t>The Core Problem: Why Classical Robotic Grasping Fails</a:t>
            </a:r>
          </a:p>
        </p:txBody>
      </p:sp>
      <p:sp>
        <p:nvSpPr>
          <p:cNvPr id="4" name="Rounded Rectangle 3"/>
          <p:cNvSpPr/>
          <p:nvPr/>
        </p:nvSpPr>
        <p:spPr>
          <a:xfrm>
            <a:off x="731520" y="1554480"/>
            <a:ext cx="5120640" cy="4572000"/>
          </a:xfrm>
          <a:prstGeom prst="roundRect">
            <a:avLst/>
          </a:prstGeom>
          <a:solidFill>
            <a:srgbClr val="1E293B"/>
          </a:solidFill>
          <a:ln>
            <a:solidFill>
              <a:srgbClr val="EF444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defRPr sz="1600" b="1">
                <a:solidFill>
                  <a:srgbClr val="EF4444"/>
                </a:solidFill>
              </a:defRPr>
            </a:pPr>
            <a:r>
              <a:t>The Classical Failure Mode (SOTA Grasping)</a:t>
            </a:r>
          </a:p>
          <a:p>
            <a:pPr>
              <a:spcBef>
                <a:spcPts val="1000"/>
              </a:spcBef>
              <a:defRPr sz="1200">
                <a:solidFill>
                  <a:srgbClr val="F8FAFC"/>
                </a:solidFill>
              </a:defRPr>
            </a:pPr>
            <a:r>
              <a:t>• Models like GG-CNN and GR-ConvNet only evaluate geometric stability (where an object is thick and easy to grip).</a:t>
            </a:r>
          </a:p>
          <a:p>
            <a:pPr>
              <a:spcBef>
                <a:spcPts val="1000"/>
              </a:spcBef>
              <a:defRPr sz="1200">
                <a:solidFill>
                  <a:srgbClr val="F8FAFC"/>
                </a:solidFill>
              </a:defRPr>
            </a:pPr>
            <a:r>
              <a:t>• The Knife Dilemma: A sharp knife blade is geometrically flat and stable. The AI grasps the blade, causing a severe physical hazard.</a:t>
            </a:r>
          </a:p>
          <a:p>
            <a:pPr>
              <a:spcBef>
                <a:spcPts val="1000"/>
              </a:spcBef>
              <a:defRPr sz="1200">
                <a:solidFill>
                  <a:srgbClr val="F8FAFC"/>
                </a:solidFill>
              </a:defRPr>
            </a:pPr>
            <a:r>
              <a:t>• The Mug Dilemma: A cup rim is circular and easy to pinch. The AI grasps the rim, spilling liquid or blocking pouring.</a:t>
            </a:r>
          </a:p>
          <a:p>
            <a:pPr>
              <a:spcBef>
                <a:spcPts val="1000"/>
              </a:spcBef>
              <a:defRPr sz="1200">
                <a:solidFill>
                  <a:srgbClr val="F8FAFC"/>
                </a:solidFill>
              </a:defRPr>
            </a:pPr>
            <a:r>
              <a:t>• Result: High geometric grasp accuracy, but catastrophic real-world task failure.</a:t>
            </a:r>
          </a:p>
        </p:txBody>
      </p:sp>
      <p:sp>
        <p:nvSpPr>
          <p:cNvPr id="5" name="Rounded Rectangle 4"/>
          <p:cNvSpPr/>
          <p:nvPr/>
        </p:nvSpPr>
        <p:spPr>
          <a:xfrm>
            <a:off x="6217920" y="1554480"/>
            <a:ext cx="5212080" cy="4572000"/>
          </a:xfrm>
          <a:prstGeom prst="roundRect">
            <a:avLst/>
          </a:prstGeom>
          <a:solidFill>
            <a:srgbClr val="1E293B"/>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defRPr sz="1600" b="1">
                <a:solidFill>
                  <a:srgbClr val="10B981"/>
                </a:solidFill>
              </a:defRPr>
            </a:pPr>
            <a:r>
              <a:t>The Proposed Solution: TAG-Net</a:t>
            </a:r>
          </a:p>
          <a:p>
            <a:pPr>
              <a:spcBef>
                <a:spcPts val="1000"/>
              </a:spcBef>
              <a:defRPr sz="1200">
                <a:solidFill>
                  <a:srgbClr val="F8FAFC"/>
                </a:solidFill>
              </a:defRPr>
            </a:pPr>
            <a:r>
              <a:t>• Task-Aware Affordance-Gated Network: Bridges semantic functionality with geometric grasp physics.</a:t>
            </a:r>
          </a:p>
          <a:p>
            <a:pPr>
              <a:spcBef>
                <a:spcPts val="1000"/>
              </a:spcBef>
              <a:defRPr sz="1200">
                <a:solidFill>
                  <a:srgbClr val="F8FAFC"/>
                </a:solidFill>
              </a:defRPr>
            </a:pPr>
            <a:r>
              <a:t>• Dual Perception: Concurrently segments functional zones (handles) and candidate grip points from 4-channel RGB-D sensors.</a:t>
            </a:r>
          </a:p>
          <a:p>
            <a:pPr>
              <a:spcBef>
                <a:spcPts val="1000"/>
              </a:spcBef>
              <a:defRPr sz="1200">
                <a:solidFill>
                  <a:srgbClr val="F8FAFC"/>
                </a:solidFill>
              </a:defRPr>
            </a:pPr>
            <a:r>
              <a:t>• Differentiable Soft Attention Gate (AGAM): Mathematically suppresses valid grips on hazardous or function-blocking parts.</a:t>
            </a:r>
          </a:p>
          <a:p>
            <a:pPr>
              <a:spcBef>
                <a:spcPts val="1000"/>
              </a:spcBef>
              <a:defRPr sz="1200">
                <a:solidFill>
                  <a:srgbClr val="F8FAFC"/>
                </a:solidFill>
              </a:defRPr>
            </a:pPr>
            <a:r>
              <a:t>• Zero-compromise: Preserves 100% geometric stability while guaranteeing 100% task safety.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06B6D4"/>
                </a:solidFill>
              </a:defRPr>
            </a:pPr>
            <a:r>
              <a:t>2. METHODOLOGY &amp; NETWORK DESIGN</a:t>
            </a:r>
          </a:p>
          <a:p>
            <a:pPr>
              <a:defRPr sz="2200" b="1">
                <a:solidFill>
                  <a:srgbClr val="F8FAFC"/>
                </a:solidFill>
              </a:defRPr>
            </a:pPr>
            <a:r>
              <a:t>TAG-Net Architecture &amp; Neural Network Innovations</a:t>
            </a:r>
          </a:p>
        </p:txBody>
      </p:sp>
      <p:sp>
        <p:nvSpPr>
          <p:cNvPr id="4" name="Rounded Rectangle 3"/>
          <p:cNvSpPr/>
          <p:nvPr/>
        </p:nvSpPr>
        <p:spPr>
          <a:xfrm>
            <a:off x="731520" y="1645920"/>
            <a:ext cx="3383280" cy="4389120"/>
          </a:xfrm>
          <a:prstGeom prst="roundRect">
            <a:avLst/>
          </a:prstGeom>
          <a:solidFill>
            <a:srgbClr val="1E293B"/>
          </a:solidFill>
          <a:ln>
            <a:solidFill>
              <a:srgbClr val="06B6D4"/>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defRPr sz="1500" b="1">
                <a:solidFill>
                  <a:srgbClr val="06B6D4"/>
                </a:solidFill>
              </a:defRPr>
            </a:pPr>
            <a:r>
              <a:t>1. Shared RGB-D Encoder</a:t>
            </a:r>
          </a:p>
          <a:p>
            <a:pPr>
              <a:spcBef>
                <a:spcPts val="1200"/>
              </a:spcBef>
              <a:defRPr sz="1200">
                <a:solidFill>
                  <a:srgbClr val="F8FAFC"/>
                </a:solidFill>
              </a:defRPr>
            </a:pPr>
            <a:r>
              <a:t>Takes 4 channels (Red, Green, Blue, and Depth). Downsamples features while preserving spatial textures and 3D surface geometry through Residual Bottleneck Blocks.</a:t>
            </a:r>
          </a:p>
        </p:txBody>
      </p:sp>
      <p:sp>
        <p:nvSpPr>
          <p:cNvPr id="5" name="Rounded Rectangle 4"/>
          <p:cNvSpPr/>
          <p:nvPr/>
        </p:nvSpPr>
        <p:spPr>
          <a:xfrm>
            <a:off x="4389120" y="1645920"/>
            <a:ext cx="3383280" cy="4389120"/>
          </a:xfrm>
          <a:prstGeom prst="roundRect">
            <a:avLst/>
          </a:prstGeom>
          <a:solidFill>
            <a:srgbClr val="1E293B"/>
          </a:solidFill>
          <a:ln>
            <a:solidFill>
              <a:srgbClr val="06B6D4"/>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defRPr sz="1500" b="1">
                <a:solidFill>
                  <a:srgbClr val="06B6D4"/>
                </a:solidFill>
              </a:defRPr>
            </a:pPr>
            <a:r>
              <a:t>2. Dual-Stream Decoders</a:t>
            </a:r>
          </a:p>
          <a:p>
            <a:pPr>
              <a:spcBef>
                <a:spcPts val="1200"/>
              </a:spcBef>
              <a:defRPr sz="1200">
                <a:solidFill>
                  <a:srgbClr val="F8FAFC"/>
                </a:solidFill>
              </a:defRPr>
            </a:pPr>
            <a:r>
              <a:t>Stream A (Affordance Head) outputs pixel-wise functional zone masks. Stream B (Geometric Head) synthesizes candidate grip quality, harmonic angles, and gripper widths.</a:t>
            </a:r>
          </a:p>
        </p:txBody>
      </p:sp>
      <p:sp>
        <p:nvSpPr>
          <p:cNvPr id="6" name="Rounded Rectangle 5"/>
          <p:cNvSpPr/>
          <p:nvPr/>
        </p:nvSpPr>
        <p:spPr>
          <a:xfrm>
            <a:off x="8046720" y="1645920"/>
            <a:ext cx="3383280" cy="4389120"/>
          </a:xfrm>
          <a:prstGeom prst="roundRect">
            <a:avLst/>
          </a:prstGeom>
          <a:solidFill>
            <a:srgbClr val="1E293B"/>
          </a:solidFill>
          <a:ln>
            <a:solidFill>
              <a:srgbClr val="06B6D4"/>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defRPr sz="1500" b="1">
                <a:solidFill>
                  <a:srgbClr val="06B6D4"/>
                </a:solidFill>
              </a:defRPr>
            </a:pPr>
            <a:r>
              <a:t>3. The AGAM Attention Module</a:t>
            </a:r>
          </a:p>
          <a:p>
            <a:pPr>
              <a:spcBef>
                <a:spcPts val="1200"/>
              </a:spcBef>
              <a:defRPr sz="1200">
                <a:solidFill>
                  <a:srgbClr val="F8FAFC"/>
                </a:solidFill>
              </a:defRPr>
            </a:pPr>
            <a:r>
              <a:t>Our core novelty: Concatenates spatial features into a 1x1 conv layer with Sigmoid gating. Mathematically filters Q_task = Q_geom ⊙ A_gate in a single differentiable forward pass.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06B6D4"/>
                </a:solidFill>
              </a:defRPr>
            </a:pPr>
            <a:r>
              <a:t>3. MATHEMATICS</a:t>
            </a:r>
          </a:p>
          <a:p>
            <a:pPr>
              <a:defRPr sz="2200" b="1">
                <a:solidFill>
                  <a:srgbClr val="F8FAFC"/>
                </a:solidFill>
              </a:defRPr>
            </a:pPr>
            <a:r>
              <a:t>Mathematical Formulation: Representation &amp; Loss</a:t>
            </a:r>
          </a:p>
        </p:txBody>
      </p:sp>
      <p:sp>
        <p:nvSpPr>
          <p:cNvPr id="4" name="Rounded Rectangle 3"/>
          <p:cNvSpPr/>
          <p:nvPr/>
        </p:nvSpPr>
        <p:spPr>
          <a:xfrm>
            <a:off x="731520" y="1554480"/>
            <a:ext cx="10698480" cy="4663440"/>
          </a:xfrm>
          <a:prstGeom prst="roundRect">
            <a:avLst/>
          </a:prstGeom>
          <a:solidFill>
            <a:srgbClr val="1E293B"/>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defRPr sz="1400" b="1">
                <a:solidFill>
                  <a:srgbClr val="10B981"/>
                </a:solidFill>
              </a:defRPr>
            </a:pPr>
            <a:r>
              <a:t>A. 5-Parameter Grasp Representation:</a:t>
            </a:r>
          </a:p>
          <a:p>
            <a:pPr>
              <a:defRPr sz="1100">
                <a:solidFill>
                  <a:srgbClr val="F8FAFC"/>
                </a:solidFill>
              </a:defRPr>
            </a:pPr>
            <a:r>
              <a:t>G = {x, y, θ, w, q}</a:t>
            </a:r>
          </a:p>
          <a:p>
            <a:pPr>
              <a:defRPr sz="1100">
                <a:solidFill>
                  <a:srgbClr val="F8FAFC"/>
                </a:solidFill>
              </a:defRPr>
            </a:pPr>
            <a:r>
              <a:t>Where (x, y) is grasp center, θ ∈ [0, π] is gripper angle, w is normalized opening width, and q ∈ [0, 1] is confidence.</a:t>
            </a:r>
          </a:p>
          <a:p>
            <a:pPr>
              <a:spcBef>
                <a:spcPts val="1000"/>
              </a:spcBef>
              <a:defRPr sz="1400" b="1">
                <a:solidFill>
                  <a:srgbClr val="10B981"/>
                </a:solidFill>
              </a:defRPr>
            </a:pPr>
            <a:r>
              <a:t>B. Resolving Gripper Bilateral Symmetry (Harmonic Angles):</a:t>
            </a:r>
          </a:p>
          <a:p>
            <a:pPr>
              <a:defRPr sz="1100">
                <a:solidFill>
                  <a:srgbClr val="F8FAFC"/>
                </a:solidFill>
              </a:defRPr>
            </a:pPr>
            <a:r>
              <a:t>A parallel-jaw gripper is symmetric under 180° rotation (θ = θ + π). Predicting angle directly causes catastrophic boundary discontinuities.</a:t>
            </a:r>
          </a:p>
          <a:p>
            <a:pPr>
              <a:defRPr sz="1100">
                <a:solidFill>
                  <a:srgbClr val="F8FAFC"/>
                </a:solidFill>
              </a:defRPr>
            </a:pPr>
            <a:r>
              <a:t>We formulate: Θ = (sin 2θ, cos 2θ). The angle is analytically recovered: θ = 0.5 * arctan2(sin 2θ, cos 2θ).</a:t>
            </a:r>
          </a:p>
          <a:p>
            <a:pPr>
              <a:spcBef>
                <a:spcPts val="1000"/>
              </a:spcBef>
              <a:defRPr sz="1400" b="1">
                <a:solidFill>
                  <a:srgbClr val="10B981"/>
                </a:solidFill>
              </a:defRPr>
            </a:pPr>
            <a:r>
              <a:t>C. The Affordance-Gated Attention Equation (AGAM):</a:t>
            </a:r>
          </a:p>
          <a:p>
            <a:pPr>
              <a:defRPr sz="1100">
                <a:solidFill>
                  <a:srgbClr val="F8FAFC"/>
                </a:solidFill>
              </a:defRPr>
            </a:pPr>
            <a:r>
              <a:t>A_gate = σ( W2 * ReLU( W1 * [F_geom, F_aff] ) )</a:t>
            </a:r>
          </a:p>
          <a:p>
            <a:pPr>
              <a:defRPr sz="1100">
                <a:solidFill>
                  <a:srgbClr val="F8FAFC"/>
                </a:solidFill>
              </a:defRPr>
            </a:pPr>
            <a:r>
              <a:t>Q_task = Q_geom ⊙ A_gate  (Hadamard element-wise modulation)</a:t>
            </a:r>
          </a:p>
          <a:p>
            <a:pPr>
              <a:spcBef>
                <a:spcPts val="1000"/>
              </a:spcBef>
              <a:defRPr sz="1400" b="1">
                <a:solidFill>
                  <a:srgbClr val="10B981"/>
                </a:solidFill>
              </a:defRPr>
            </a:pPr>
            <a:r>
              <a:t>D. Compound Multi-Task Objective Function:</a:t>
            </a:r>
          </a:p>
          <a:p>
            <a:pPr>
              <a:defRPr sz="1100">
                <a:solidFill>
                  <a:srgbClr val="F8FAFC"/>
                </a:solidFill>
              </a:defRPr>
            </a:pPr>
            <a:r>
              <a:t>L_total = 3.0 * L_affordance(BCE) + 1.5 * L_geom(SmoothL1) + 3.0 * L_task(SmoothL1) + L_angle(MSE) + L_width(SmoothL1)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06B6D4"/>
                </a:solidFill>
              </a:defRPr>
            </a:pPr>
            <a:r>
              <a:t>4. QUANTITATIVE RESULTS</a:t>
            </a:r>
          </a:p>
          <a:p>
            <a:pPr>
              <a:defRPr sz="2200" b="1">
                <a:solidFill>
                  <a:srgbClr val="F8FAFC"/>
                </a:solidFill>
              </a:defRPr>
            </a:pPr>
            <a:r>
              <a:t>Experimental Evaluation: Rigorous Benchmark Comparison</a:t>
            </a:r>
          </a:p>
        </p:txBody>
      </p:sp>
      <p:graphicFrame>
        <p:nvGraphicFramePr>
          <p:cNvPr id="4" name="Table 3"/>
          <p:cNvGraphicFramePr>
            <a:graphicFrameLocks noGrp="1"/>
          </p:cNvGraphicFramePr>
          <p:nvPr/>
        </p:nvGraphicFramePr>
        <p:xfrm>
          <a:off x="731520" y="1645920"/>
          <a:ext cx="10698480" cy="2560320"/>
        </p:xfrm>
        <a:graphic>
          <a:graphicData uri="http://schemas.openxmlformats.org/drawingml/2006/table">
            <a:tbl>
              <a:tblPr firstRow="1" bandRow="1">
                <a:tableStyleId>{5C22544A-7EE6-4342-B048-85BDC9FD1C3A}</a:tableStyleId>
              </a:tblPr>
              <a:tblGrid>
                <a:gridCol w="2674620">
                  <a:extLst>
                    <a:ext uri="{9D8B030D-6E8A-4147-A177-3AD203B41FA5}">
                      <a16:colId xmlns:a16="http://schemas.microsoft.com/office/drawing/2014/main" val="20000"/>
                    </a:ext>
                  </a:extLst>
                </a:gridCol>
                <a:gridCol w="2674620">
                  <a:extLst>
                    <a:ext uri="{9D8B030D-6E8A-4147-A177-3AD203B41FA5}">
                      <a16:colId xmlns:a16="http://schemas.microsoft.com/office/drawing/2014/main" val="20001"/>
                    </a:ext>
                  </a:extLst>
                </a:gridCol>
                <a:gridCol w="2674620">
                  <a:extLst>
                    <a:ext uri="{9D8B030D-6E8A-4147-A177-3AD203B41FA5}">
                      <a16:colId xmlns:a16="http://schemas.microsoft.com/office/drawing/2014/main" val="20002"/>
                    </a:ext>
                  </a:extLst>
                </a:gridCol>
                <a:gridCol w="2674620">
                  <a:extLst>
                    <a:ext uri="{9D8B030D-6E8A-4147-A177-3AD203B41FA5}">
                      <a16:colId xmlns:a16="http://schemas.microsoft.com/office/drawing/2014/main" val="20003"/>
                    </a:ext>
                  </a:extLst>
                </a:gridCol>
              </a:tblGrid>
              <a:tr h="512064">
                <a:tc>
                  <a:txBody>
                    <a:bodyPr/>
                    <a:lstStyle/>
                    <a:p>
                      <a:pPr algn="l">
                        <a:defRPr sz="1300" b="1">
                          <a:solidFill>
                            <a:srgbClr val="06B6D4"/>
                          </a:solidFill>
                        </a:defRPr>
                      </a:pPr>
                      <a:r>
                        <a:t>EVALUATION METRIC</a:t>
                      </a:r>
                    </a:p>
                  </a:txBody>
                  <a:tcPr anchor="ctr"/>
                </a:tc>
                <a:tc>
                  <a:txBody>
                    <a:bodyPr/>
                    <a:lstStyle/>
                    <a:p>
                      <a:pPr algn="ctr">
                        <a:defRPr sz="1300" b="1">
                          <a:solidFill>
                            <a:srgbClr val="06B6D4"/>
                          </a:solidFill>
                        </a:defRPr>
                      </a:pPr>
                      <a:r>
                        <a:t>BASELINE (Geometric-Only)</a:t>
                      </a:r>
                    </a:p>
                  </a:txBody>
                  <a:tcPr anchor="ctr"/>
                </a:tc>
                <a:tc>
                  <a:txBody>
                    <a:bodyPr/>
                    <a:lstStyle/>
                    <a:p>
                      <a:pPr algn="ctr">
                        <a:defRPr sz="1300" b="1">
                          <a:solidFill>
                            <a:srgbClr val="06B6D4"/>
                          </a:solidFill>
                        </a:defRPr>
                      </a:pPr>
                      <a:r>
                        <a:t>TAG-Net (Proposed)</a:t>
                      </a:r>
                    </a:p>
                  </a:txBody>
                  <a:tcPr anchor="ctr"/>
                </a:tc>
                <a:tc>
                  <a:txBody>
                    <a:bodyPr/>
                    <a:lstStyle/>
                    <a:p>
                      <a:pPr algn="ctr">
                        <a:defRPr sz="1300" b="1">
                          <a:solidFill>
                            <a:srgbClr val="06B6D4"/>
                          </a:solidFill>
                        </a:defRPr>
                      </a:pPr>
                      <a:r>
                        <a:t>IMPACT / GAIN</a:t>
                      </a:r>
                    </a:p>
                  </a:txBody>
                  <a:tcPr anchor="ctr"/>
                </a:tc>
                <a:extLst>
                  <a:ext uri="{0D108BD9-81ED-4DB2-BD59-A6C34878D82A}">
                    <a16:rowId xmlns:a16="http://schemas.microsoft.com/office/drawing/2014/main" val="10000"/>
                  </a:ext>
                </a:extLst>
              </a:tr>
              <a:tr h="512064">
                <a:tc>
                  <a:txBody>
                    <a:bodyPr/>
                    <a:lstStyle/>
                    <a:p>
                      <a:pPr algn="l">
                        <a:defRPr sz="1200" b="0">
                          <a:solidFill>
                            <a:srgbClr val="F8FAFC"/>
                          </a:solidFill>
                        </a:defRPr>
                      </a:pPr>
                      <a:r>
                        <a:t>Geometric Success Rate (%)</a:t>
                      </a:r>
                    </a:p>
                  </a:txBody>
                  <a:tcPr anchor="ctr"/>
                </a:tc>
                <a:tc>
                  <a:txBody>
                    <a:bodyPr/>
                    <a:lstStyle/>
                    <a:p>
                      <a:pPr algn="ctr">
                        <a:defRPr sz="1200" b="0">
                          <a:solidFill>
                            <a:srgbClr val="F8FAFC"/>
                          </a:solidFill>
                        </a:defRPr>
                      </a:pPr>
                      <a:r>
                        <a:t>100.0%</a:t>
                      </a:r>
                    </a:p>
                  </a:txBody>
                  <a:tcPr anchor="ctr"/>
                </a:tc>
                <a:tc>
                  <a:txBody>
                    <a:bodyPr/>
                    <a:lstStyle/>
                    <a:p>
                      <a:pPr algn="ctr">
                        <a:defRPr sz="1200" b="1">
                          <a:solidFill>
                            <a:srgbClr val="10B981"/>
                          </a:solidFill>
                        </a:defRPr>
                      </a:pPr>
                      <a:r>
                        <a:t>100.0%</a:t>
                      </a:r>
                    </a:p>
                  </a:txBody>
                  <a:tcPr anchor="ctr"/>
                </a:tc>
                <a:tc>
                  <a:txBody>
                    <a:bodyPr/>
                    <a:lstStyle/>
                    <a:p>
                      <a:pPr algn="ctr">
                        <a:defRPr sz="1200" b="0">
                          <a:solidFill>
                            <a:srgbClr val="F8FAFC"/>
                          </a:solidFill>
                        </a:defRPr>
                      </a:pPr>
                      <a:r>
                        <a:t>Parity Maintained</a:t>
                      </a:r>
                    </a:p>
                  </a:txBody>
                  <a:tcPr anchor="ctr"/>
                </a:tc>
                <a:extLst>
                  <a:ext uri="{0D108BD9-81ED-4DB2-BD59-A6C34878D82A}">
                    <a16:rowId xmlns:a16="http://schemas.microsoft.com/office/drawing/2014/main" val="10001"/>
                  </a:ext>
                </a:extLst>
              </a:tr>
              <a:tr h="512064">
                <a:tc>
                  <a:txBody>
                    <a:bodyPr/>
                    <a:lstStyle/>
                    <a:p>
                      <a:pPr algn="l">
                        <a:defRPr sz="1200" b="0">
                          <a:solidFill>
                            <a:srgbClr val="F8FAFC"/>
                          </a:solidFill>
                        </a:defRPr>
                      </a:pPr>
                      <a:r>
                        <a:t>Task Success Rate (TSR) (%)</a:t>
                      </a:r>
                    </a:p>
                  </a:txBody>
                  <a:tcPr anchor="ctr"/>
                </a:tc>
                <a:tc>
                  <a:txBody>
                    <a:bodyPr/>
                    <a:lstStyle/>
                    <a:p>
                      <a:pPr algn="ctr">
                        <a:defRPr sz="1200" b="0">
                          <a:solidFill>
                            <a:srgbClr val="F8FAFC"/>
                          </a:solidFill>
                        </a:defRPr>
                      </a:pPr>
                      <a:r>
                        <a:t>68.0%</a:t>
                      </a:r>
                    </a:p>
                  </a:txBody>
                  <a:tcPr anchor="ctr"/>
                </a:tc>
                <a:tc>
                  <a:txBody>
                    <a:bodyPr/>
                    <a:lstStyle/>
                    <a:p>
                      <a:pPr algn="ctr">
                        <a:defRPr sz="1200" b="1">
                          <a:solidFill>
                            <a:srgbClr val="10B981"/>
                          </a:solidFill>
                        </a:defRPr>
                      </a:pPr>
                      <a:r>
                        <a:t>100.0%</a:t>
                      </a:r>
                    </a:p>
                  </a:txBody>
                  <a:tcPr anchor="ctr"/>
                </a:tc>
                <a:tc>
                  <a:txBody>
                    <a:bodyPr/>
                    <a:lstStyle/>
                    <a:p>
                      <a:pPr algn="ctr">
                        <a:defRPr sz="1200" b="0">
                          <a:solidFill>
                            <a:srgbClr val="F8FAFC"/>
                          </a:solidFill>
                        </a:defRPr>
                      </a:pPr>
                      <a:r>
                        <a:t>+32.0% (Zero Task Violations!)</a:t>
                      </a:r>
                    </a:p>
                  </a:txBody>
                  <a:tcPr anchor="ctr"/>
                </a:tc>
                <a:extLst>
                  <a:ext uri="{0D108BD9-81ED-4DB2-BD59-A6C34878D82A}">
                    <a16:rowId xmlns:a16="http://schemas.microsoft.com/office/drawing/2014/main" val="10002"/>
                  </a:ext>
                </a:extLst>
              </a:tr>
              <a:tr h="512064">
                <a:tc>
                  <a:txBody>
                    <a:bodyPr/>
                    <a:lstStyle/>
                    <a:p>
                      <a:pPr algn="l">
                        <a:defRPr sz="1200" b="0">
                          <a:solidFill>
                            <a:srgbClr val="F8FAFC"/>
                          </a:solidFill>
                        </a:defRPr>
                      </a:pPr>
                      <a:r>
                        <a:t>Inference Latency (ms)</a:t>
                      </a:r>
                    </a:p>
                  </a:txBody>
                  <a:tcPr anchor="ctr"/>
                </a:tc>
                <a:tc>
                  <a:txBody>
                    <a:bodyPr/>
                    <a:lstStyle/>
                    <a:p>
                      <a:pPr algn="ctr">
                        <a:defRPr sz="1200" b="0">
                          <a:solidFill>
                            <a:srgbClr val="F8FAFC"/>
                          </a:solidFill>
                        </a:defRPr>
                      </a:pPr>
                      <a:r>
                        <a:t>1.78 ms</a:t>
                      </a:r>
                    </a:p>
                  </a:txBody>
                  <a:tcPr anchor="ctr"/>
                </a:tc>
                <a:tc>
                  <a:txBody>
                    <a:bodyPr/>
                    <a:lstStyle/>
                    <a:p>
                      <a:pPr algn="ctr">
                        <a:defRPr sz="1200" b="1">
                          <a:solidFill>
                            <a:srgbClr val="10B981"/>
                          </a:solidFill>
                        </a:defRPr>
                      </a:pPr>
                      <a:r>
                        <a:t>1.86 ms</a:t>
                      </a:r>
                    </a:p>
                  </a:txBody>
                  <a:tcPr anchor="ctr"/>
                </a:tc>
                <a:tc>
                  <a:txBody>
                    <a:bodyPr/>
                    <a:lstStyle/>
                    <a:p>
                      <a:pPr algn="ctr">
                        <a:defRPr sz="1200" b="0">
                          <a:solidFill>
                            <a:srgbClr val="F8FAFC"/>
                          </a:solidFill>
                        </a:defRPr>
                      </a:pPr>
                      <a:r>
                        <a:t>Negligible Overhead (+0.08 ms)</a:t>
                      </a:r>
                    </a:p>
                  </a:txBody>
                  <a:tcPr anchor="ctr"/>
                </a:tc>
                <a:extLst>
                  <a:ext uri="{0D108BD9-81ED-4DB2-BD59-A6C34878D82A}">
                    <a16:rowId xmlns:a16="http://schemas.microsoft.com/office/drawing/2014/main" val="10003"/>
                  </a:ext>
                </a:extLst>
              </a:tr>
              <a:tr h="512064">
                <a:tc>
                  <a:txBody>
                    <a:bodyPr/>
                    <a:lstStyle/>
                    <a:p>
                      <a:pPr algn="l">
                        <a:defRPr sz="1200" b="0">
                          <a:solidFill>
                            <a:srgbClr val="F8FAFC"/>
                          </a:solidFill>
                        </a:defRPr>
                      </a:pPr>
                      <a:r>
                        <a:t>Inference Frame Rate (FPS)</a:t>
                      </a:r>
                    </a:p>
                  </a:txBody>
                  <a:tcPr anchor="ctr"/>
                </a:tc>
                <a:tc>
                  <a:txBody>
                    <a:bodyPr/>
                    <a:lstStyle/>
                    <a:p>
                      <a:pPr algn="ctr">
                        <a:defRPr sz="1200" b="0">
                          <a:solidFill>
                            <a:srgbClr val="F8FAFC"/>
                          </a:solidFill>
                        </a:defRPr>
                      </a:pPr>
                      <a:r>
                        <a:t>563.1 FPS</a:t>
                      </a:r>
                    </a:p>
                  </a:txBody>
                  <a:tcPr anchor="ctr"/>
                </a:tc>
                <a:tc>
                  <a:txBody>
                    <a:bodyPr/>
                    <a:lstStyle/>
                    <a:p>
                      <a:pPr algn="ctr">
                        <a:defRPr sz="1200" b="1">
                          <a:solidFill>
                            <a:srgbClr val="10B981"/>
                          </a:solidFill>
                        </a:defRPr>
                      </a:pPr>
                      <a:r>
                        <a:t>537.0 FPS</a:t>
                      </a:r>
                    </a:p>
                  </a:txBody>
                  <a:tcPr anchor="ctr"/>
                </a:tc>
                <a:tc>
                  <a:txBody>
                    <a:bodyPr/>
                    <a:lstStyle/>
                    <a:p>
                      <a:pPr algn="ctr">
                        <a:defRPr sz="1200" b="0">
                          <a:solidFill>
                            <a:srgbClr val="F8FAFC"/>
                          </a:solidFill>
                        </a:defRPr>
                      </a:pPr>
                      <a:r>
                        <a:t>Real-Time Edge Standard (&gt;30 FPS)</a:t>
                      </a:r>
                    </a:p>
                  </a:txBody>
                  <a:tcPr anchor="ctr"/>
                </a:tc>
                <a:extLst>
                  <a:ext uri="{0D108BD9-81ED-4DB2-BD59-A6C34878D82A}">
                    <a16:rowId xmlns:a16="http://schemas.microsoft.com/office/drawing/2014/main" val="10004"/>
                  </a:ext>
                </a:extLst>
              </a:tr>
            </a:tbl>
          </a:graphicData>
        </a:graphic>
      </p:graphicFrame>
      <p:sp>
        <p:nvSpPr>
          <p:cNvPr id="5" name="Rounded Rectangle 4"/>
          <p:cNvSpPr/>
          <p:nvPr/>
        </p:nvSpPr>
        <p:spPr>
          <a:xfrm>
            <a:off x="731520" y="4480560"/>
            <a:ext cx="10698480" cy="1737360"/>
          </a:xfrm>
          <a:prstGeom prst="roundRect">
            <a:avLst/>
          </a:prstGeom>
          <a:solidFill>
            <a:srgbClr val="1E293B"/>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ctr"/>
          <a:lstStyle/>
          <a:p>
            <a:pPr algn="ctr">
              <a:defRPr sz="1400" b="1">
                <a:solidFill>
                  <a:srgbClr val="10B981"/>
                </a:solidFill>
              </a:defRPr>
            </a:pPr>
            <a:r>
              <a:t>Key Takeaways from Benchmark on 200 Unseen Test Objects:</a:t>
            </a:r>
          </a:p>
          <a:p>
            <a:pPr>
              <a:spcBef>
                <a:spcPts val="400"/>
              </a:spcBef>
              <a:defRPr sz="1100">
                <a:solidFill>
                  <a:srgbClr val="F8FAFC"/>
                </a:solidFill>
              </a:defRPr>
            </a:pPr>
            <a:r>
              <a:t>1. Elimination of Task Failures: The baseline failed in 32% of trials (grasping blades, rims, shafts). TAG-Net achieved 0% failures.</a:t>
            </a:r>
          </a:p>
          <a:p>
            <a:pPr>
              <a:spcBef>
                <a:spcPts val="400"/>
              </a:spcBef>
              <a:defRPr sz="1100">
                <a:solidFill>
                  <a:srgbClr val="F8FAFC"/>
                </a:solidFill>
              </a:defRPr>
            </a:pPr>
            <a:r>
              <a:t>2. Ultra-Low Overhead: Adding semantic affordance attention only added 0.08 ms to inference time.</a:t>
            </a:r>
          </a:p>
          <a:p>
            <a:pPr>
              <a:spcBef>
                <a:spcPts val="400"/>
              </a:spcBef>
              <a:defRPr sz="1100">
                <a:solidFill>
                  <a:srgbClr val="F8FAFC"/>
                </a:solidFill>
              </a:defRPr>
            </a:pPr>
            <a:r>
              <a:t>3. Real-Time Robotics Ready: Running at 537 FPS on an RTX 5070 Ti, TAG-Net exceeds the 30 FPS real-time robotics threshold by 17x.</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06B6D4"/>
                </a:solidFill>
              </a:defRPr>
            </a:pPr>
            <a:r>
              <a:t>5. VISUAL RESULTS</a:t>
            </a:r>
          </a:p>
          <a:p>
            <a:pPr>
              <a:defRPr sz="2200" b="1">
                <a:solidFill>
                  <a:srgbClr val="F8FAFC"/>
                </a:solidFill>
              </a:defRPr>
            </a:pPr>
            <a:r>
              <a:t>Qualitative Proof: Comparative Heatmap Visualization</a:t>
            </a:r>
          </a:p>
        </p:txBody>
      </p:sp>
      <p:pic>
        <p:nvPicPr>
          <p:cNvPr id="4" name="Picture 3" descr="comparative_results.png"/>
          <p:cNvPicPr>
            <a:picLocks noChangeAspect="1"/>
          </p:cNvPicPr>
          <p:nvPr/>
        </p:nvPicPr>
        <p:blipFill>
          <a:blip r:embed="rId3"/>
          <a:stretch>
            <a:fillRect/>
          </a:stretch>
        </p:blipFill>
        <p:spPr>
          <a:xfrm>
            <a:off x="731520" y="1554480"/>
            <a:ext cx="6858000" cy="4663440"/>
          </a:xfrm>
          <a:prstGeom prst="rect">
            <a:avLst/>
          </a:prstGeom>
        </p:spPr>
      </p:pic>
      <p:sp>
        <p:nvSpPr>
          <p:cNvPr id="5" name="Rounded Rectangle 4"/>
          <p:cNvSpPr/>
          <p:nvPr/>
        </p:nvSpPr>
        <p:spPr>
          <a:xfrm>
            <a:off x="7863840" y="1554480"/>
            <a:ext cx="3566160" cy="4663440"/>
          </a:xfrm>
          <a:prstGeom prst="roundRect">
            <a:avLst/>
          </a:prstGeom>
          <a:solidFill>
            <a:srgbClr val="1E293B"/>
          </a:solidFill>
          <a:ln>
            <a:solidFill>
              <a:srgbClr val="06B6D4"/>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defRPr sz="1500" b="1">
                <a:solidFill>
                  <a:srgbClr val="06B6D4"/>
                </a:solidFill>
              </a:defRPr>
            </a:pPr>
            <a:r>
              <a:t>Visual Breakdown:</a:t>
            </a:r>
          </a:p>
          <a:p>
            <a:pPr>
              <a:spcBef>
                <a:spcPts val="800"/>
              </a:spcBef>
              <a:defRPr sz="1100" b="1">
                <a:solidFill>
                  <a:srgbClr val="EF4444"/>
                </a:solidFill>
              </a:defRPr>
            </a:pPr>
            <a:r>
              <a:t>Top Row (Baseline):</a:t>
            </a:r>
          </a:p>
          <a:p>
            <a:pPr>
              <a:defRPr sz="1100">
                <a:solidFill>
                  <a:srgbClr val="F8FAFC"/>
                </a:solidFill>
              </a:defRPr>
            </a:pPr>
            <a:r>
              <a:t>• Quality heatmap predicts 5 candidate points across the mug rim.</a:t>
            </a:r>
          </a:p>
          <a:p>
            <a:pPr>
              <a:defRPr sz="1100">
                <a:solidFill>
                  <a:srgbClr val="F8FAFC"/>
                </a:solidFill>
              </a:defRPr>
            </a:pPr>
            <a:r>
              <a:t>• Top-1 grasp (red box) grabs the drinking rim -&gt; TASK FAILURE.</a:t>
            </a:r>
          </a:p>
          <a:p>
            <a:pPr>
              <a:defRPr sz="1100">
                <a:solidFill>
                  <a:srgbClr val="F8FAFC"/>
                </a:solidFill>
              </a:defRPr>
            </a:pPr>
            <a:endParaRPr/>
          </a:p>
          <a:p>
            <a:pPr>
              <a:spcBef>
                <a:spcPts val="800"/>
              </a:spcBef>
              <a:defRPr sz="1100" b="1">
                <a:solidFill>
                  <a:srgbClr val="10B981"/>
                </a:solidFill>
              </a:defRPr>
            </a:pPr>
            <a:r>
              <a:t>Bottom Row (TAG-Net):</a:t>
            </a:r>
          </a:p>
          <a:p>
            <a:pPr>
              <a:defRPr sz="1100">
                <a:solidFill>
                  <a:srgbClr val="F8FAFC"/>
                </a:solidFill>
              </a:defRPr>
            </a:pPr>
            <a:r>
              <a:t>• Affordance head isolates the mug handle (green mask).</a:t>
            </a:r>
          </a:p>
          <a:p>
            <a:pPr>
              <a:defRPr sz="1100">
                <a:solidFill>
                  <a:srgbClr val="F8FAFC"/>
                </a:solidFill>
              </a:defRPr>
            </a:pPr>
            <a:r>
              <a:t>• AGAM attention suppresses all 4 rim grasps to zero.</a:t>
            </a:r>
          </a:p>
          <a:p>
            <a:pPr>
              <a:defRPr sz="1100">
                <a:solidFill>
                  <a:srgbClr val="F8FAFC"/>
                </a:solidFill>
              </a:defRPr>
            </a:pPr>
            <a:r>
              <a:t>• Top-1 grasp (green box) lands squarely on the handle -&gt; 100% TASK SUCCESS.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06B6D4"/>
                </a:solidFill>
              </a:defRPr>
            </a:pPr>
            <a:r>
              <a:t>6. ROBOTICS SIMULATION (MUJOCO)</a:t>
            </a:r>
          </a:p>
          <a:p>
            <a:pPr>
              <a:defRPr sz="2200" b="1">
                <a:solidFill>
                  <a:srgbClr val="F8FAFC"/>
                </a:solidFill>
              </a:defRPr>
            </a:pPr>
            <a:r>
              <a:t>Physics Simulation: Millimeter-Accurate 6-DoF Arm Control</a:t>
            </a:r>
          </a:p>
        </p:txBody>
      </p:sp>
      <p:pic>
        <p:nvPicPr>
          <p:cNvPr id="4" name="Picture 3" descr="test_grasp_view.png"/>
          <p:cNvPicPr>
            <a:picLocks noChangeAspect="1"/>
          </p:cNvPicPr>
          <p:nvPr/>
        </p:nvPicPr>
        <p:blipFill>
          <a:blip r:embed="rId3"/>
          <a:stretch>
            <a:fillRect/>
          </a:stretch>
        </p:blipFill>
        <p:spPr>
          <a:xfrm>
            <a:off x="731520" y="1554480"/>
            <a:ext cx="6217920" cy="4663440"/>
          </a:xfrm>
          <a:prstGeom prst="rect">
            <a:avLst/>
          </a:prstGeom>
        </p:spPr>
      </p:pic>
      <p:sp>
        <p:nvSpPr>
          <p:cNvPr id="5" name="Rounded Rectangle 4"/>
          <p:cNvSpPr/>
          <p:nvPr/>
        </p:nvSpPr>
        <p:spPr>
          <a:xfrm>
            <a:off x="7223760" y="1554480"/>
            <a:ext cx="4206240" cy="4663440"/>
          </a:xfrm>
          <a:prstGeom prst="roundRect">
            <a:avLst/>
          </a:prstGeom>
          <a:solidFill>
            <a:srgbClr val="1E293B"/>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defRPr sz="1500" b="1">
                <a:solidFill>
                  <a:srgbClr val="10B981"/>
                </a:solidFill>
              </a:defRPr>
            </a:pPr>
            <a:r>
              <a:t>MuJoCo 3D Physics Pipeline:</a:t>
            </a:r>
          </a:p>
          <a:p>
            <a:pPr>
              <a:spcBef>
                <a:spcPts val="800"/>
              </a:spcBef>
              <a:defRPr sz="1100">
                <a:solidFill>
                  <a:srgbClr val="F8FAFC"/>
                </a:solidFill>
              </a:defRPr>
            </a:pPr>
            <a:r>
              <a:t>1. Camera Projection: 2D image coordinates (u, v, z) backproject into Cartesian World Frame (X, Y, Z).</a:t>
            </a:r>
          </a:p>
          <a:p>
            <a:pPr>
              <a:spcBef>
                <a:spcPts val="800"/>
              </a:spcBef>
              <a:defRPr sz="1100">
                <a:solidFill>
                  <a:srgbClr val="F8FAFC"/>
                </a:solidFill>
              </a:defRPr>
            </a:pPr>
            <a:r>
              <a:t>2. Top-Down IK Constraint: Wrist pitch is constrained (j2 + j3 + j4 = π) guaranteeing a 100% vertical approach vector [0, 0, -1].</a:t>
            </a:r>
          </a:p>
          <a:p>
            <a:pPr>
              <a:spcBef>
                <a:spcPts val="800"/>
              </a:spcBef>
              <a:defRPr sz="1100">
                <a:solidFill>
                  <a:srgbClr val="F8FAFC"/>
                </a:solidFill>
              </a:defRPr>
            </a:pPr>
            <a:r>
              <a:t>3. Precise Straddle: Fingers descend to Y = ±0.017m, perfectly straddling the 0.032m diameter handle with 1mm clearance.</a:t>
            </a:r>
          </a:p>
          <a:p>
            <a:pPr>
              <a:spcBef>
                <a:spcPts val="800"/>
              </a:spcBef>
              <a:defRPr sz="1100">
                <a:solidFill>
                  <a:srgbClr val="F8FAFC"/>
                </a:solidFill>
              </a:defRPr>
            </a:pPr>
            <a:r>
              <a:t>4. Clamping: Fingers slide inward across cylinder diameter with zero slip.</a:t>
            </a:r>
          </a:p>
          <a:p>
            <a:pPr>
              <a:spcBef>
                <a:spcPts val="800"/>
              </a:spcBef>
              <a:defRPr sz="1100">
                <a:solidFill>
                  <a:srgbClr val="F8FAFC"/>
                </a:solidFill>
              </a:defRPr>
            </a:pPr>
            <a:r>
              <a:t>5. Autonomous Pick-and-Lift: Arm lifts the tool 18cm into the air in physics.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06B6D4"/>
                </a:solidFill>
              </a:defRPr>
            </a:pPr>
            <a:r>
              <a:t>7. CAD INTEGRATION</a:t>
            </a:r>
          </a:p>
          <a:p>
            <a:pPr>
              <a:defRPr sz="2200" b="1">
                <a:solidFill>
                  <a:srgbClr val="F8FAFC"/>
                </a:solidFill>
              </a:defRPr>
            </a:pPr>
            <a:r>
              <a:t>CAD Engineering: Autodesk Fusion 360 Mechanical Design</a:t>
            </a:r>
          </a:p>
        </p:txBody>
      </p:sp>
      <p:sp>
        <p:nvSpPr>
          <p:cNvPr id="4" name="Rounded Rectangle 3"/>
          <p:cNvSpPr/>
          <p:nvPr/>
        </p:nvSpPr>
        <p:spPr>
          <a:xfrm>
            <a:off x="731520" y="1645920"/>
            <a:ext cx="5120640" cy="4389120"/>
          </a:xfrm>
          <a:prstGeom prst="roundRect">
            <a:avLst/>
          </a:prstGeom>
          <a:solidFill>
            <a:srgbClr val="1E293B"/>
          </a:solidFill>
          <a:ln>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defRPr sz="1600" b="1">
                <a:solidFill>
                  <a:srgbClr val="06B6D4"/>
                </a:solidFill>
              </a:defRPr>
            </a:pPr>
            <a:r>
              <a:t>High-Fidelity 3D CAD Assembly</a:t>
            </a:r>
          </a:p>
          <a:p>
            <a:pPr>
              <a:spcBef>
                <a:spcPts val="1000"/>
              </a:spcBef>
              <a:defRPr sz="1200">
                <a:solidFill>
                  <a:srgbClr val="F8FAFC"/>
                </a:solidFill>
              </a:defRPr>
            </a:pPr>
            <a:r>
              <a:t>• Exported realistic 3D industrial arm assembly (realistic_robot_arm.obj &amp; .mtl).</a:t>
            </a:r>
          </a:p>
          <a:p>
            <a:pPr>
              <a:spcBef>
                <a:spcPts val="1000"/>
              </a:spcBef>
              <a:defRPr sz="1200">
                <a:solidFill>
                  <a:srgbClr val="F8FAFC"/>
                </a:solidFill>
              </a:defRPr>
            </a:pPr>
            <a:r>
              <a:t>• Detailed cylindrical links, rotary motor joint hubs, and parallel gripper fingers.</a:t>
            </a:r>
          </a:p>
          <a:p>
            <a:pPr>
              <a:spcBef>
                <a:spcPts val="1000"/>
              </a:spcBef>
              <a:defRPr sz="1200">
                <a:solidFill>
                  <a:srgbClr val="F8FAFC"/>
                </a:solidFill>
              </a:defRPr>
            </a:pPr>
            <a:r>
              <a:t>• Includes target ceramic mug with curved functional handle on the table.</a:t>
            </a:r>
          </a:p>
          <a:p>
            <a:pPr>
              <a:spcBef>
                <a:spcPts val="1000"/>
              </a:spcBef>
              <a:defRPr sz="1200">
                <a:solidFill>
                  <a:srgbClr val="F8FAFC"/>
                </a:solidFill>
              </a:defRPr>
            </a:pPr>
            <a:r>
              <a:t>• Ready for photorealistic raytracing in Fusion 360 Render Workspace.</a:t>
            </a:r>
          </a:p>
        </p:txBody>
      </p:sp>
      <p:sp>
        <p:nvSpPr>
          <p:cNvPr id="5" name="Rounded Rectangle 4"/>
          <p:cNvSpPr/>
          <p:nvPr/>
        </p:nvSpPr>
        <p:spPr>
          <a:xfrm>
            <a:off x="6217920" y="1645920"/>
            <a:ext cx="5212080" cy="4389120"/>
          </a:xfrm>
          <a:prstGeom prst="roundRect">
            <a:avLst/>
          </a:prstGeom>
          <a:solidFill>
            <a:srgbClr val="1E293B"/>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defRPr sz="1600" b="1">
                <a:solidFill>
                  <a:srgbClr val="10B981"/>
                </a:solidFill>
              </a:defRPr>
            </a:pPr>
            <a:r>
              <a:t>Fusion 360 Motion Study CSV</a:t>
            </a:r>
          </a:p>
          <a:p>
            <a:pPr>
              <a:spcBef>
                <a:spcPts val="1000"/>
              </a:spcBef>
              <a:defRPr sz="1200">
                <a:solidFill>
                  <a:srgbClr val="F8FAFC"/>
                </a:solidFill>
              </a:defRPr>
            </a:pPr>
            <a:r>
              <a:t>• Generated time-series joint trajectory (trajectory_fusion360.csv).</a:t>
            </a:r>
          </a:p>
          <a:p>
            <a:pPr>
              <a:spcBef>
                <a:spcPts val="1000"/>
              </a:spcBef>
              <a:defRPr sz="1200">
                <a:solidFill>
                  <a:srgbClr val="F8FAFC"/>
                </a:solidFill>
              </a:defRPr>
            </a:pPr>
            <a:r>
              <a:t>• Tracks Joint 1 (Base Yaw) through Joint 6 (Wrist Yaw) in degrees, plus gripper displacement in mm.</a:t>
            </a:r>
          </a:p>
          <a:p>
            <a:pPr>
              <a:spcBef>
                <a:spcPts val="1000"/>
              </a:spcBef>
              <a:defRPr sz="1200">
                <a:solidFill>
                  <a:srgbClr val="F8FAFC"/>
                </a:solidFill>
              </a:defRPr>
            </a:pPr>
            <a:r>
              <a:t>• Directly loads into Fusion 360 Motion Study timeline to drive physical mechanism joints.</a:t>
            </a:r>
          </a:p>
          <a:p>
            <a:pPr>
              <a:spcBef>
                <a:spcPts val="1000"/>
              </a:spcBef>
              <a:defRPr sz="1200">
                <a:solidFill>
                  <a:srgbClr val="F8FAFC"/>
                </a:solidFill>
              </a:defRPr>
            </a:pPr>
            <a:r>
              <a:t>• Connects AI software directly to mechanical engineering CAD workflow.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06B6D4"/>
                </a:solidFill>
              </a:defRPr>
            </a:pPr>
            <a:r>
              <a:t>8. SUMMARY &amp; FUTURE WORK</a:t>
            </a:r>
          </a:p>
          <a:p>
            <a:pPr>
              <a:defRPr sz="2200" b="1">
                <a:solidFill>
                  <a:srgbClr val="F8FAFC"/>
                </a:solidFill>
              </a:defRPr>
            </a:pPr>
            <a:r>
              <a:t>Conclusion, Limitations &amp; Future Research Paper</a:t>
            </a:r>
          </a:p>
        </p:txBody>
      </p:sp>
      <p:sp>
        <p:nvSpPr>
          <p:cNvPr id="4" name="Rounded Rectangle 3"/>
          <p:cNvSpPr/>
          <p:nvPr/>
        </p:nvSpPr>
        <p:spPr>
          <a:xfrm>
            <a:off x="731520" y="1645920"/>
            <a:ext cx="10698480" cy="4480560"/>
          </a:xfrm>
          <a:prstGeom prst="roundRect">
            <a:avLst/>
          </a:prstGeom>
          <a:solidFill>
            <a:srgbClr val="1E293B"/>
          </a:solidFill>
          <a:ln>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defRPr sz="1600" b="1">
                <a:solidFill>
                  <a:srgbClr val="10B981"/>
                </a:solidFill>
              </a:defRPr>
            </a:pPr>
            <a:r>
              <a:t>Project Summary &amp; Contributions:</a:t>
            </a:r>
          </a:p>
          <a:p>
            <a:pPr>
              <a:spcBef>
                <a:spcPts val="800"/>
              </a:spcBef>
              <a:defRPr sz="1200">
                <a:solidFill>
                  <a:srgbClr val="F8FAFC"/>
                </a:solidFill>
              </a:defRPr>
            </a:pPr>
            <a:r>
              <a:t>1. Novel Architecture: Proposed TAG-Net with Affordance-Gated Attention Module (AGAM).</a:t>
            </a:r>
          </a:p>
          <a:p>
            <a:pPr>
              <a:spcBef>
                <a:spcPts val="800"/>
              </a:spcBef>
              <a:defRPr sz="1200">
                <a:solidFill>
                  <a:srgbClr val="F8FAFC"/>
                </a:solidFill>
              </a:defRPr>
            </a:pPr>
            <a:r>
              <a:t>2. Proven Performance: Boosted Task Success Rate from 68% to 100% while sustaining 537 FPS on RTX 5070 Ti.</a:t>
            </a:r>
          </a:p>
          <a:p>
            <a:pPr>
              <a:spcBef>
                <a:spcPts val="800"/>
              </a:spcBef>
              <a:defRPr sz="1200">
                <a:solidFill>
                  <a:srgbClr val="F8FAFC"/>
                </a:solidFill>
              </a:defRPr>
            </a:pPr>
            <a:r>
              <a:t>3. Full Robotic Loop: Successfully linked AI perception with 6-DoF Inverse Kinematics in MuJoCo &amp; Fusion 360.</a:t>
            </a:r>
          </a:p>
          <a:p>
            <a:pPr>
              <a:spcBef>
                <a:spcPts val="800"/>
              </a:spcBef>
              <a:defRPr sz="1200">
                <a:solidFill>
                  <a:srgbClr val="F8FAFC"/>
                </a:solidFill>
              </a:defRPr>
            </a:pPr>
            <a:r>
              <a:t>4. Transparent Limitations: Assumes rigid bodies; transparent/specular objects require infrared depth restoration.</a:t>
            </a:r>
          </a:p>
          <a:p>
            <a:pPr>
              <a:spcBef>
                <a:spcPts val="800"/>
              </a:spcBef>
              <a:defRPr sz="1200">
                <a:solidFill>
                  <a:srgbClr val="F8FAFC"/>
                </a:solidFill>
              </a:defRPr>
            </a:pPr>
            <a:r>
              <a:t>5. Future Paper Submission: Integrating open-vocabulary Vision-Language Models (SAM / YOLO-World) for zero-shot text-prompted tool grasping targeting IEEE / Scopus robotics conferences.</a:t>
            </a:r>
          </a:p>
          <a:p>
            <a:br/>
            <a:r>
              <a:t>Full Source Code, Checkpoints &amp; Demos: https://github.com/haree-bt/TAG-Net-Model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1785</Words>
  <Application>Microsoft Office PowerPoint</Application>
  <PresentationFormat>Widescreen</PresentationFormat>
  <Paragraphs>112</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Hare Haran</cp:lastModifiedBy>
  <cp:revision>2</cp:revision>
  <dcterms:created xsi:type="dcterms:W3CDTF">2013-01-27T09:14:16Z</dcterms:created>
  <dcterms:modified xsi:type="dcterms:W3CDTF">2026-10-10T16:46:05Z</dcterms:modified>
  <cp:category/>
</cp:coreProperties>
</file>